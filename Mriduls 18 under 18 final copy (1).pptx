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bookmarkIdSeed="2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8" r:id="rId7"/>
    <p:sldId id="262" r:id="rId8"/>
    <p:sldId id="265" r:id="rId9"/>
    <p:sldId id="263" r:id="rId10"/>
    <p:sldId id="264" r:id="rId11"/>
  </p:sldIdLst>
  <p:sldSz cx="18288000" cy="10287000"/>
  <p:notesSz cx="6858000" cy="9144000"/>
  <p:embeddedFontLst>
    <p:embeddedFont>
      <p:font typeface="Berlin Sans FB Demi" panose="020E0802020502020306" pitchFamily="34" charset="0"/>
      <p:bold r:id="rId13"/>
    </p:embeddedFont>
    <p:embeddedFont>
      <p:font typeface="Playfair Display" panose="00000500000000000000" pitchFamily="2" charset="0"/>
      <p:regular r:id="rId14"/>
      <p:bold r:id="rId15"/>
      <p:italic r:id="rId16"/>
      <p:boldItalic r:id="rId17"/>
    </p:embeddedFont>
    <p:embeddedFont>
      <p:font typeface="Public Sans" panose="020B0604020202020204" charset="0"/>
      <p:regular r:id="rId18"/>
    </p:embeddedFont>
    <p:embeddedFont>
      <p:font typeface="Public Sans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88BF91-DBCC-4D29-8C15-A1FB5C39E9CA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0AEC0-3FC3-4B2C-A8D5-FCBE438AE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914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0AEC0-3FC3-4B2C-A8D5-FCBE438AE29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2555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0AEC0-3FC3-4B2C-A8D5-FCBE438AE29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146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hyperlink" Target="https://www.sciencedirect.com/journal/computer-vision-and-image-understanding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sciencedirect.com/science/article/pii/S1077314216000138" TargetMode="Externa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5918" y="4469982"/>
            <a:ext cx="16240119" cy="48034"/>
            <a:chOff x="0" y="0"/>
            <a:chExt cx="21653492" cy="64045"/>
          </a:xfrm>
        </p:grpSpPr>
        <p:sp>
          <p:nvSpPr>
            <p:cNvPr id="3" name="Freeform 3"/>
            <p:cNvSpPr/>
            <p:nvPr/>
          </p:nvSpPr>
          <p:spPr>
            <a:xfrm>
              <a:off x="6350" y="0"/>
              <a:ext cx="21640800" cy="64008"/>
            </a:xfrm>
            <a:custGeom>
              <a:avLst/>
              <a:gdLst/>
              <a:ahLst/>
              <a:cxnLst/>
              <a:rect l="l" t="t" r="r" b="b"/>
              <a:pathLst>
                <a:path w="21640800" h="64008">
                  <a:moveTo>
                    <a:pt x="0" y="51308"/>
                  </a:moveTo>
                  <a:lnTo>
                    <a:pt x="21640800" y="0"/>
                  </a:lnTo>
                  <a:lnTo>
                    <a:pt x="21640800" y="12700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2B2C3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763543" y="4643761"/>
            <a:ext cx="16230600" cy="648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The Nagging App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32371" y="2260190"/>
            <a:ext cx="17623258" cy="2084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49"/>
              </a:lnSpc>
            </a:pPr>
            <a:r>
              <a:rPr lang="en-US" sz="16758" spc="82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Posture Corrector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3543" y="8054431"/>
            <a:ext cx="7862435" cy="1303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Mridul Mittal,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Student of Class 8 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Phoenix Greens School Of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3932" y="1755998"/>
            <a:ext cx="16240119" cy="48034"/>
            <a:chOff x="0" y="0"/>
            <a:chExt cx="21653492" cy="64045"/>
          </a:xfrm>
        </p:grpSpPr>
        <p:sp>
          <p:nvSpPr>
            <p:cNvPr id="3" name="Freeform 3"/>
            <p:cNvSpPr/>
            <p:nvPr/>
          </p:nvSpPr>
          <p:spPr>
            <a:xfrm>
              <a:off x="6350" y="0"/>
              <a:ext cx="21640800" cy="64008"/>
            </a:xfrm>
            <a:custGeom>
              <a:avLst/>
              <a:gdLst/>
              <a:ahLst/>
              <a:cxnLst/>
              <a:rect l="l" t="t" r="r" b="b"/>
              <a:pathLst>
                <a:path w="21640800" h="64008">
                  <a:moveTo>
                    <a:pt x="0" y="51308"/>
                  </a:moveTo>
                  <a:lnTo>
                    <a:pt x="21640800" y="0"/>
                  </a:lnTo>
                  <a:lnTo>
                    <a:pt x="21640800" y="12700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2B2C3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Freeform 4"/>
          <p:cNvSpPr/>
          <p:nvPr/>
        </p:nvSpPr>
        <p:spPr>
          <a:xfrm>
            <a:off x="13497870" y="3010191"/>
            <a:ext cx="4053078" cy="4114800"/>
          </a:xfrm>
          <a:custGeom>
            <a:avLst/>
            <a:gdLst/>
            <a:ahLst/>
            <a:cxnLst/>
            <a:rect l="l" t="t" r="r" b="b"/>
            <a:pathLst>
              <a:path w="4053078" h="4114800">
                <a:moveTo>
                  <a:pt x="0" y="0"/>
                </a:moveTo>
                <a:lnTo>
                  <a:pt x="4053078" y="0"/>
                </a:lnTo>
                <a:lnTo>
                  <a:pt x="40530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028689" y="1760340"/>
            <a:ext cx="12968807" cy="6785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35583" lvl="2" indent="-311861" algn="l">
              <a:lnSpc>
                <a:spcPts val="7653"/>
              </a:lnSpc>
              <a:buFont typeface="Arial"/>
              <a:buChar char="⚬"/>
            </a:pPr>
            <a:r>
              <a:rPr lang="en-US" sz="4092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Overview</a:t>
            </a:r>
          </a:p>
          <a:p>
            <a:pPr marL="935583" lvl="2" indent="-311861" algn="l">
              <a:lnSpc>
                <a:spcPts val="7653"/>
              </a:lnSpc>
              <a:buFont typeface="Arial"/>
              <a:buChar char="⚬"/>
            </a:pPr>
            <a:r>
              <a:rPr lang="en-US" sz="4092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How can we help?</a:t>
            </a:r>
          </a:p>
          <a:p>
            <a:pPr marL="935583" lvl="2" indent="-311861" algn="l">
              <a:lnSpc>
                <a:spcPts val="7653"/>
              </a:lnSpc>
              <a:buFont typeface="Arial"/>
              <a:buChar char="⚬"/>
            </a:pPr>
            <a:r>
              <a:rPr lang="en-US" sz="4092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Additional features</a:t>
            </a:r>
          </a:p>
          <a:p>
            <a:pPr marL="935583" lvl="2" indent="-311861" algn="l">
              <a:lnSpc>
                <a:spcPts val="7653"/>
              </a:lnSpc>
              <a:buFont typeface="Arial"/>
              <a:buChar char="⚬"/>
            </a:pPr>
            <a:r>
              <a:rPr lang="en-US" sz="4092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Privacy &amp; Trust</a:t>
            </a:r>
          </a:p>
          <a:p>
            <a:pPr marL="935583" lvl="2" indent="-311861" algn="l">
              <a:lnSpc>
                <a:spcPts val="7653"/>
              </a:lnSpc>
              <a:buFont typeface="Arial"/>
              <a:buChar char="⚬"/>
            </a:pPr>
            <a:r>
              <a:rPr lang="en-US" sz="4092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Contribution to SDG</a:t>
            </a:r>
          </a:p>
          <a:p>
            <a:pPr marL="935511" lvl="2" indent="-311837" algn="l">
              <a:lnSpc>
                <a:spcPts val="7652"/>
              </a:lnSpc>
              <a:buFont typeface="Arial"/>
              <a:buChar char="⚬"/>
            </a:pPr>
            <a:r>
              <a:rPr lang="en-US" sz="4092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Future Plan’s</a:t>
            </a:r>
          </a:p>
          <a:p>
            <a:pPr marL="623723" lvl="2" algn="l">
              <a:lnSpc>
                <a:spcPts val="7653"/>
              </a:lnSpc>
            </a:pPr>
            <a:endParaRPr lang="en-US" sz="4092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813791" y="516395"/>
            <a:ext cx="5212401" cy="91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572"/>
              </a:lnSpc>
            </a:pPr>
            <a:r>
              <a:rPr lang="en-US" sz="5409" b="1" spc="1228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TOPICS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930951"/>
            <a:ext cx="16240119" cy="48034"/>
            <a:chOff x="0" y="0"/>
            <a:chExt cx="21653492" cy="64045"/>
          </a:xfrm>
        </p:grpSpPr>
        <p:sp>
          <p:nvSpPr>
            <p:cNvPr id="3" name="Freeform 3"/>
            <p:cNvSpPr/>
            <p:nvPr/>
          </p:nvSpPr>
          <p:spPr>
            <a:xfrm>
              <a:off x="6350" y="0"/>
              <a:ext cx="21640800" cy="64008"/>
            </a:xfrm>
            <a:custGeom>
              <a:avLst/>
              <a:gdLst/>
              <a:ahLst/>
              <a:cxnLst/>
              <a:rect l="l" t="t" r="r" b="b"/>
              <a:pathLst>
                <a:path w="21640800" h="64008">
                  <a:moveTo>
                    <a:pt x="0" y="51308"/>
                  </a:moveTo>
                  <a:lnTo>
                    <a:pt x="21640800" y="0"/>
                  </a:lnTo>
                  <a:lnTo>
                    <a:pt x="21640800" y="12700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2B2C3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Freeform 4"/>
          <p:cNvSpPr/>
          <p:nvPr/>
        </p:nvSpPr>
        <p:spPr>
          <a:xfrm>
            <a:off x="13106400" y="5692519"/>
            <a:ext cx="4042791" cy="4114800"/>
          </a:xfrm>
          <a:custGeom>
            <a:avLst/>
            <a:gdLst/>
            <a:ahLst/>
            <a:cxnLst/>
            <a:rect l="l" t="t" r="r" b="b"/>
            <a:pathLst>
              <a:path w="4042791" h="4114800">
                <a:moveTo>
                  <a:pt x="0" y="0"/>
                </a:moveTo>
                <a:lnTo>
                  <a:pt x="4042791" y="0"/>
                </a:lnTo>
                <a:lnTo>
                  <a:pt x="40427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/>
          <p:cNvSpPr/>
          <p:nvPr/>
        </p:nvSpPr>
        <p:spPr>
          <a:xfrm>
            <a:off x="122441" y="4687752"/>
            <a:ext cx="5290376" cy="5290376"/>
          </a:xfrm>
          <a:custGeom>
            <a:avLst/>
            <a:gdLst/>
            <a:ahLst/>
            <a:cxnLst/>
            <a:rect l="l" t="t" r="r" b="b"/>
            <a:pathLst>
              <a:path w="5290376" h="5290376">
                <a:moveTo>
                  <a:pt x="0" y="0"/>
                </a:moveTo>
                <a:lnTo>
                  <a:pt x="5290376" y="0"/>
                </a:lnTo>
                <a:lnTo>
                  <a:pt x="5290376" y="5290376"/>
                </a:lnTo>
                <a:lnTo>
                  <a:pt x="0" y="52903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TextBox 6"/>
          <p:cNvSpPr txBox="1"/>
          <p:nvPr/>
        </p:nvSpPr>
        <p:spPr>
          <a:xfrm>
            <a:off x="122441" y="1256119"/>
            <a:ext cx="17708359" cy="42655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14274" lvl="2" indent="-304758" algn="l">
              <a:lnSpc>
                <a:spcPts val="5199"/>
              </a:lnSpc>
              <a:buFont typeface="Arial"/>
              <a:buChar char="⚬"/>
            </a:pPr>
            <a:r>
              <a:rPr lang="en-US" sz="3200" spc="19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Urban professionals spend long hours seated—calls, emails, constant messaging.</a:t>
            </a:r>
          </a:p>
          <a:p>
            <a:pPr marL="914274" lvl="2" indent="-304758" algn="l">
              <a:lnSpc>
                <a:spcPts val="5199"/>
              </a:lnSpc>
              <a:buFont typeface="Arial"/>
              <a:buChar char="⚬"/>
            </a:pPr>
            <a:r>
              <a:rPr lang="en-US" sz="3200" spc="19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Poor sitting posture develops gradually, often unnoticed.</a:t>
            </a:r>
          </a:p>
          <a:p>
            <a:pPr marL="914274" lvl="2" indent="-304758" algn="l">
              <a:lnSpc>
                <a:spcPts val="5199"/>
              </a:lnSpc>
              <a:buFont typeface="Arial"/>
              <a:buChar char="⚬"/>
            </a:pPr>
            <a:r>
              <a:rPr lang="en-US" sz="3200" spc="19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Wrong exercise techniques or poses can worsen physical strain.</a:t>
            </a:r>
          </a:p>
          <a:p>
            <a:pPr marL="948569" lvl="2" indent="-316190" algn="l">
              <a:lnSpc>
                <a:spcPts val="5394"/>
              </a:lnSpc>
              <a:buFont typeface="Arial"/>
              <a:buChar char="⚬"/>
            </a:pPr>
            <a:r>
              <a:rPr lang="en-US" sz="3200" spc="20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Both lead to long-term health problems, reducing well-being and productivity.</a:t>
            </a:r>
          </a:p>
          <a:p>
            <a:pPr marL="948569" lvl="2" indent="-316190" algn="l">
              <a:lnSpc>
                <a:spcPts val="5394"/>
              </a:lnSpc>
              <a:buFont typeface="Arial"/>
              <a:buChar char="⚬"/>
            </a:pPr>
            <a:r>
              <a:rPr lang="en-US" sz="3200" spc="20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It impacts their overall health.</a:t>
            </a:r>
          </a:p>
          <a:p>
            <a:pPr marL="914275" lvl="2" indent="-304758" algn="l">
              <a:lnSpc>
                <a:spcPts val="7865"/>
              </a:lnSpc>
            </a:pPr>
            <a:endParaRPr lang="en-US" sz="4149" spc="20" dirty="0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6248400" y="5521710"/>
            <a:ext cx="4592056" cy="4856754"/>
          </a:xfrm>
          <a:custGeom>
            <a:avLst/>
            <a:gdLst/>
            <a:ahLst/>
            <a:cxnLst/>
            <a:rect l="l" t="t" r="r" b="b"/>
            <a:pathLst>
              <a:path w="4592056" h="4856754">
                <a:moveTo>
                  <a:pt x="0" y="0"/>
                </a:moveTo>
                <a:lnTo>
                  <a:pt x="4592056" y="0"/>
                </a:lnTo>
                <a:lnTo>
                  <a:pt x="4592056" y="4856755"/>
                </a:lnTo>
                <a:lnTo>
                  <a:pt x="0" y="48567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86495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TextBox 8"/>
          <p:cNvSpPr txBox="1"/>
          <p:nvPr/>
        </p:nvSpPr>
        <p:spPr>
          <a:xfrm>
            <a:off x="457200" y="0"/>
            <a:ext cx="15094713" cy="906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80"/>
              </a:lnSpc>
            </a:pPr>
            <a:r>
              <a:rPr lang="en-US" sz="5414" b="1" spc="1229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60432" y="997471"/>
            <a:ext cx="16240119" cy="47625"/>
            <a:chOff x="0" y="0"/>
            <a:chExt cx="21653492" cy="63500"/>
          </a:xfrm>
        </p:grpSpPr>
        <p:sp>
          <p:nvSpPr>
            <p:cNvPr id="3" name="Freeform 3"/>
            <p:cNvSpPr/>
            <p:nvPr/>
          </p:nvSpPr>
          <p:spPr>
            <a:xfrm>
              <a:off x="6350" y="0"/>
              <a:ext cx="21640800" cy="63463"/>
            </a:xfrm>
            <a:custGeom>
              <a:avLst/>
              <a:gdLst/>
              <a:ahLst/>
              <a:cxnLst/>
              <a:rect l="l" t="t" r="r" b="b"/>
              <a:pathLst>
                <a:path w="21640800" h="63463">
                  <a:moveTo>
                    <a:pt x="0" y="50871"/>
                  </a:moveTo>
                  <a:lnTo>
                    <a:pt x="21640800" y="0"/>
                  </a:lnTo>
                  <a:lnTo>
                    <a:pt x="21640800" y="12592"/>
                  </a:lnTo>
                  <a:lnTo>
                    <a:pt x="0" y="63463"/>
                  </a:lnTo>
                  <a:close/>
                </a:path>
              </a:pathLst>
            </a:custGeom>
            <a:solidFill>
              <a:srgbClr val="2B2C3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-381000" y="1243680"/>
            <a:ext cx="18364200" cy="4487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92995" lvl="2" indent="-297665" algn="l">
              <a:lnSpc>
                <a:spcPts val="5859"/>
              </a:lnSpc>
              <a:buFont typeface="Arial"/>
              <a:buChar char="⚬"/>
            </a:pPr>
            <a:r>
              <a:rPr lang="en-US" sz="3200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Develop an AI-powered model with a large posture-tracking database.</a:t>
            </a:r>
          </a:p>
          <a:p>
            <a:pPr marL="892995" lvl="2" indent="-297665" algn="l">
              <a:lnSpc>
                <a:spcPts val="5859"/>
              </a:lnSpc>
              <a:buFont typeface="Arial"/>
              <a:buChar char="⚬"/>
            </a:pPr>
            <a:r>
              <a:rPr lang="en-US" sz="3200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Utilize the laptop or mobile camera to monitor posture throughout the day.</a:t>
            </a:r>
          </a:p>
          <a:p>
            <a:pPr marL="892995" lvl="2" indent="-297665" algn="l">
              <a:lnSpc>
                <a:spcPts val="5859"/>
              </a:lnSpc>
              <a:buFont typeface="Arial"/>
              <a:buChar char="⚬"/>
            </a:pPr>
            <a:r>
              <a:rPr lang="en-US" sz="3200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Provide real-time alerts when posture begins to slip.</a:t>
            </a:r>
          </a:p>
          <a:p>
            <a:pPr marL="892995" lvl="2" indent="-297665" algn="l">
              <a:lnSpc>
                <a:spcPts val="5859"/>
              </a:lnSpc>
              <a:buFont typeface="Arial"/>
              <a:buChar char="⚬"/>
            </a:pPr>
            <a:r>
              <a:rPr lang="en-US" sz="3200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Extend functionality to fitness environments for monitoring workout using mobile camera.</a:t>
            </a:r>
          </a:p>
          <a:p>
            <a:pPr marL="892995" lvl="2" indent="-297665" algn="l">
              <a:lnSpc>
                <a:spcPts val="5859"/>
              </a:lnSpc>
              <a:buFont typeface="Arial"/>
              <a:buChar char="⚬"/>
            </a:pPr>
            <a:r>
              <a:rPr lang="en-US" sz="3200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Help users prevent long-term health issues through timely corrections.</a:t>
            </a:r>
          </a:p>
          <a:p>
            <a:pPr marL="926260" lvl="2" indent="-308753" algn="l">
              <a:lnSpc>
                <a:spcPts val="6077"/>
              </a:lnSpc>
            </a:pPr>
            <a:r>
              <a:rPr lang="en-US" sz="4051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32079" y="63367"/>
            <a:ext cx="16230600" cy="1024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72"/>
              </a:lnSpc>
            </a:pPr>
            <a:r>
              <a:rPr lang="en-US" sz="5409" b="1" spc="1228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HOW CAN THE WE HELP?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B9A8338-B480-739A-C2DD-642D49C98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143500"/>
            <a:ext cx="7607691" cy="50358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345CAC7-560C-7CCE-6773-5B93721D86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7800" y="6000794"/>
            <a:ext cx="8655495" cy="41785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62262" y="1104900"/>
            <a:ext cx="16240119" cy="48034"/>
            <a:chOff x="0" y="0"/>
            <a:chExt cx="21653492" cy="64045"/>
          </a:xfrm>
        </p:grpSpPr>
        <p:sp>
          <p:nvSpPr>
            <p:cNvPr id="3" name="Freeform 3"/>
            <p:cNvSpPr/>
            <p:nvPr/>
          </p:nvSpPr>
          <p:spPr>
            <a:xfrm>
              <a:off x="6350" y="0"/>
              <a:ext cx="21640800" cy="64008"/>
            </a:xfrm>
            <a:custGeom>
              <a:avLst/>
              <a:gdLst/>
              <a:ahLst/>
              <a:cxnLst/>
              <a:rect l="l" t="t" r="r" b="b"/>
              <a:pathLst>
                <a:path w="21640800" h="64008">
                  <a:moveTo>
                    <a:pt x="0" y="51308"/>
                  </a:moveTo>
                  <a:lnTo>
                    <a:pt x="21640800" y="0"/>
                  </a:lnTo>
                  <a:lnTo>
                    <a:pt x="21640800" y="12700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2B2C3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Freeform 4"/>
          <p:cNvSpPr/>
          <p:nvPr/>
        </p:nvSpPr>
        <p:spPr>
          <a:xfrm>
            <a:off x="14325600" y="6438900"/>
            <a:ext cx="3200400" cy="3086100"/>
          </a:xfrm>
          <a:custGeom>
            <a:avLst/>
            <a:gdLst/>
            <a:ahLst/>
            <a:cxnLst/>
            <a:rect l="l" t="t" r="r" b="b"/>
            <a:pathLst>
              <a:path w="3911134" h="4114800">
                <a:moveTo>
                  <a:pt x="0" y="0"/>
                </a:moveTo>
                <a:lnTo>
                  <a:pt x="3911134" y="0"/>
                </a:lnTo>
                <a:lnTo>
                  <a:pt x="39111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6" r="-4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76200" y="1943100"/>
            <a:ext cx="15953207" cy="4794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8734" lvl="2" indent="-316245" algn="l">
              <a:lnSpc>
                <a:spcPts val="5395"/>
              </a:lnSpc>
              <a:buFont typeface="Arial"/>
              <a:buChar char="⚬"/>
            </a:pPr>
            <a:r>
              <a:rPr lang="en-US" sz="3200" spc="20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Leverage posture tracking to monitor user attentiveness during work or study.</a:t>
            </a:r>
          </a:p>
          <a:p>
            <a:pPr marL="948734" lvl="2" indent="-316245" algn="l">
              <a:lnSpc>
                <a:spcPts val="5395"/>
              </a:lnSpc>
              <a:buFont typeface="Arial"/>
              <a:buChar char="⚬"/>
            </a:pPr>
            <a:r>
              <a:rPr lang="en-US" sz="3200" spc="20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Detect signs of distraction or lack of focus using AI analysis of posture data.</a:t>
            </a:r>
          </a:p>
          <a:p>
            <a:pPr marL="948734" lvl="2" indent="-316245" algn="l">
              <a:lnSpc>
                <a:spcPts val="5395"/>
              </a:lnSpc>
              <a:buFont typeface="Arial"/>
              <a:buChar char="⚬"/>
            </a:pPr>
            <a:r>
              <a:rPr lang="en-US" sz="3200" spc="20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Provide personalized tips to improve concentration and attention span.</a:t>
            </a:r>
          </a:p>
          <a:p>
            <a:pPr marL="948734" lvl="2" indent="-316245" algn="l">
              <a:lnSpc>
                <a:spcPts val="5395"/>
              </a:lnSpc>
              <a:buFont typeface="Arial"/>
              <a:buChar char="⚬"/>
            </a:pPr>
            <a:r>
              <a:rPr lang="en-US" sz="3200" spc="20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Offer actionable insights to boost productivity and focus throughout the day.</a:t>
            </a:r>
          </a:p>
          <a:p>
            <a:pPr marL="948734" lvl="2" indent="-316245">
              <a:lnSpc>
                <a:spcPts val="5395"/>
              </a:lnSpc>
              <a:buFont typeface="Arial"/>
              <a:buChar char="⚬"/>
            </a:pPr>
            <a:r>
              <a:rPr lang="en-US" sz="3200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system collects data only from reliable and trusted databases to ensure accuracy and safety for machine learning.</a:t>
            </a:r>
            <a:endParaRPr lang="en-US" sz="3200" spc="20" dirty="0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948734" lvl="2" indent="-316245" algn="l">
              <a:lnSpc>
                <a:spcPts val="5395"/>
              </a:lnSpc>
            </a:pPr>
            <a:endParaRPr lang="en-US" sz="4150" spc="20" dirty="0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04801" y="204654"/>
            <a:ext cx="17907000" cy="6756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4000" b="1" spc="93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WHAT ADDITIONAL FEATURES CAN IT PROVIDE?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A3A7E5-797A-CE6E-BD14-B70E0E162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239C40C-271B-40E8-F6AB-A28D4C27FAD8}"/>
              </a:ext>
            </a:extLst>
          </p:cNvPr>
          <p:cNvGrpSpPr/>
          <p:nvPr/>
        </p:nvGrpSpPr>
        <p:grpSpPr>
          <a:xfrm>
            <a:off x="362262" y="1104900"/>
            <a:ext cx="16240119" cy="48034"/>
            <a:chOff x="0" y="0"/>
            <a:chExt cx="21653492" cy="6404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19F4A7C-54A3-2723-9E92-90CBF08EEAA0}"/>
                </a:ext>
              </a:extLst>
            </p:cNvPr>
            <p:cNvSpPr/>
            <p:nvPr/>
          </p:nvSpPr>
          <p:spPr>
            <a:xfrm>
              <a:off x="6350" y="0"/>
              <a:ext cx="21640800" cy="64008"/>
            </a:xfrm>
            <a:custGeom>
              <a:avLst/>
              <a:gdLst/>
              <a:ahLst/>
              <a:cxnLst/>
              <a:rect l="l" t="t" r="r" b="b"/>
              <a:pathLst>
                <a:path w="21640800" h="64008">
                  <a:moveTo>
                    <a:pt x="0" y="51308"/>
                  </a:moveTo>
                  <a:lnTo>
                    <a:pt x="21640800" y="0"/>
                  </a:lnTo>
                  <a:lnTo>
                    <a:pt x="21640800" y="12700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2B2C3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9603C77F-0605-D85D-B741-02D2FD8C8657}"/>
              </a:ext>
            </a:extLst>
          </p:cNvPr>
          <p:cNvSpPr txBox="1"/>
          <p:nvPr/>
        </p:nvSpPr>
        <p:spPr>
          <a:xfrm>
            <a:off x="-533399" y="1656465"/>
            <a:ext cx="18704822" cy="33647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03989" lvl="2" indent="-571500">
              <a:lnSpc>
                <a:spcPts val="5395"/>
              </a:lnSpc>
              <a:buFont typeface="Courier New" panose="02070309020205020404" pitchFamily="49" charset="0"/>
              <a:buChar char="o"/>
            </a:pPr>
            <a:r>
              <a:rPr lang="en-US" sz="2600" spc="20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All posture analysis happens on the user’s device using </a:t>
            </a:r>
            <a:r>
              <a:rPr lang="en-US" sz="2600" b="1" spc="20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Edge AI</a:t>
            </a:r>
            <a:r>
              <a:rPr lang="en-US" sz="2600" spc="20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; Camera real images are not uploaded to any server.</a:t>
            </a:r>
          </a:p>
          <a:p>
            <a:pPr marL="1203989" lvl="2" indent="-571500">
              <a:lnSpc>
                <a:spcPts val="5395"/>
              </a:lnSpc>
              <a:buFont typeface="Courier New" panose="02070309020205020404" pitchFamily="49" charset="0"/>
              <a:buChar char="o"/>
            </a:pPr>
            <a:r>
              <a:rPr lang="en-US" sz="2600" spc="20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app does not record or store photos or videos by default; frames are analyzed and then discarded instantly.</a:t>
            </a:r>
          </a:p>
          <a:p>
            <a:pPr marL="1203989" lvl="2" indent="-571500">
              <a:lnSpc>
                <a:spcPts val="5395"/>
              </a:lnSpc>
              <a:buFont typeface="Courier New" panose="02070309020205020404" pitchFamily="49" charset="0"/>
              <a:buChar char="o"/>
            </a:pPr>
            <a:r>
              <a:rPr lang="en-US" sz="2600" spc="20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Only anonymous statistics (like number of posture alerts per day) are stored to help users track progress.</a:t>
            </a:r>
          </a:p>
          <a:p>
            <a:pPr marL="1203989" lvl="2" indent="-571500">
              <a:lnSpc>
                <a:spcPts val="5395"/>
              </a:lnSpc>
              <a:buFont typeface="Courier New" panose="02070309020205020404" pitchFamily="49" charset="0"/>
              <a:buChar char="o"/>
            </a:pPr>
            <a:r>
              <a:rPr lang="en-US" sz="2600" spc="20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Users control permissions: they can pause monitoring anytime and can delete their posture data in one tap.</a:t>
            </a:r>
          </a:p>
          <a:p>
            <a:pPr marL="1203989" lvl="2" indent="-571500">
              <a:lnSpc>
                <a:spcPts val="5395"/>
              </a:lnSpc>
              <a:buFont typeface="Courier New" panose="02070309020205020404" pitchFamily="49" charset="0"/>
              <a:buChar char="o"/>
            </a:pPr>
            <a:r>
              <a:rPr lang="en-US" sz="2600" spc="20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Designed to follow modern privacy regulations (consent, data minimization, and transparency) to keep users safe.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4F4E3B2-BA38-40FE-4676-ED984B92F212}"/>
              </a:ext>
            </a:extLst>
          </p:cNvPr>
          <p:cNvSpPr txBox="1"/>
          <p:nvPr/>
        </p:nvSpPr>
        <p:spPr>
          <a:xfrm>
            <a:off x="304801" y="204654"/>
            <a:ext cx="17907000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5400" b="1" spc="93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Privacy &amp; Trust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454C6F6-70F8-B134-01C7-0419D02CC37B}"/>
              </a:ext>
            </a:extLst>
          </p:cNvPr>
          <p:cNvGrpSpPr/>
          <p:nvPr/>
        </p:nvGrpSpPr>
        <p:grpSpPr>
          <a:xfrm>
            <a:off x="15484258" y="5905500"/>
            <a:ext cx="2590800" cy="3088983"/>
            <a:chOff x="15087600" y="6701571"/>
            <a:chExt cx="2590800" cy="3088983"/>
          </a:xfrm>
        </p:grpSpPr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18DE393B-43CF-DC6B-C92C-7542462E8976}"/>
                </a:ext>
              </a:extLst>
            </p:cNvPr>
            <p:cNvSpPr/>
            <p:nvPr/>
          </p:nvSpPr>
          <p:spPr>
            <a:xfrm>
              <a:off x="15087600" y="6701571"/>
              <a:ext cx="2590800" cy="2687814"/>
            </a:xfrm>
            <a:custGeom>
              <a:avLst/>
              <a:gdLst/>
              <a:ahLst/>
              <a:cxnLst/>
              <a:rect l="l" t="t" r="r" b="b"/>
              <a:pathLst>
                <a:path w="3623862" h="3583094">
                  <a:moveTo>
                    <a:pt x="0" y="0"/>
                  </a:moveTo>
                  <a:lnTo>
                    <a:pt x="3623862" y="0"/>
                  </a:lnTo>
                  <a:lnTo>
                    <a:pt x="3623862" y="3583094"/>
                  </a:lnTo>
                  <a:lnTo>
                    <a:pt x="0" y="3583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4642665-24AB-DE6E-EA85-1F830991C5A6}"/>
                </a:ext>
              </a:extLst>
            </p:cNvPr>
            <p:cNvSpPr txBox="1"/>
            <p:nvPr/>
          </p:nvSpPr>
          <p:spPr>
            <a:xfrm>
              <a:off x="15316200" y="9421222"/>
              <a:ext cx="2362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Berlin Sans FB Demi" panose="020E0802020502020306" pitchFamily="34" charset="0"/>
                </a:rPr>
                <a:t>Privacy first design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D67C6C2-1790-C7E2-A40E-88E28965AAFB}"/>
              </a:ext>
            </a:extLst>
          </p:cNvPr>
          <p:cNvGrpSpPr/>
          <p:nvPr/>
        </p:nvGrpSpPr>
        <p:grpSpPr>
          <a:xfrm>
            <a:off x="304801" y="5633182"/>
            <a:ext cx="7190128" cy="2960132"/>
            <a:chOff x="304801" y="6286500"/>
            <a:chExt cx="7190128" cy="296013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B0EBE17-C4E3-1A18-E04B-8BA8E32028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699" t="5883" r="51318" b="13631"/>
            <a:stretch>
              <a:fillRect/>
            </a:stretch>
          </p:blipFill>
          <p:spPr>
            <a:xfrm>
              <a:off x="304801" y="6286500"/>
              <a:ext cx="3521093" cy="25908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72345B-D52E-593B-1E2E-743276F51C6F}"/>
                </a:ext>
              </a:extLst>
            </p:cNvPr>
            <p:cNvSpPr txBox="1"/>
            <p:nvPr/>
          </p:nvSpPr>
          <p:spPr>
            <a:xfrm>
              <a:off x="1387589" y="8877300"/>
              <a:ext cx="182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Berlin Sans FB Demi" panose="020E0802020502020306" pitchFamily="34" charset="0"/>
                </a:rPr>
                <a:t>Real Image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DCE7FFC-C71C-21F5-D3C9-FB8B2BB41723}"/>
                </a:ext>
              </a:extLst>
            </p:cNvPr>
            <p:cNvSpPr txBox="1"/>
            <p:nvPr/>
          </p:nvSpPr>
          <p:spPr>
            <a:xfrm>
              <a:off x="4988917" y="8877300"/>
              <a:ext cx="182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Berlin Sans FB Demi" panose="020E0802020502020306" pitchFamily="34" charset="0"/>
                </a:rPr>
                <a:t>Depth Map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5AEC0EF-294F-ACC1-2961-58DA3588B3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1521" t="5883" r="1709" b="13631"/>
            <a:stretch>
              <a:fillRect/>
            </a:stretch>
          </p:blipFill>
          <p:spPr>
            <a:xfrm>
              <a:off x="3989729" y="6286500"/>
              <a:ext cx="3505200" cy="25908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ECAF15B-5F67-9B1B-DA44-B74BFD1E014E}"/>
              </a:ext>
            </a:extLst>
          </p:cNvPr>
          <p:cNvGrpSpPr/>
          <p:nvPr/>
        </p:nvGrpSpPr>
        <p:grpSpPr>
          <a:xfrm>
            <a:off x="8579640" y="5424291"/>
            <a:ext cx="5757276" cy="3650232"/>
            <a:chOff x="8568324" y="5757673"/>
            <a:chExt cx="5757276" cy="3650232"/>
          </a:xfrm>
        </p:grpSpPr>
        <p:pic>
          <p:nvPicPr>
            <p:cNvPr id="1028" name="Picture 4" descr="Fig. 3">
              <a:extLst>
                <a:ext uri="{FF2B5EF4-FFF2-40B4-BE49-F238E27FC236}">
                  <a16:creationId xmlns:a16="http://schemas.microsoft.com/office/drawing/2014/main" id="{FD041233-CBC2-1275-3E9A-3034ABE4336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r="3924" b="13274"/>
            <a:stretch>
              <a:fillRect/>
            </a:stretch>
          </p:blipFill>
          <p:spPr bwMode="auto">
            <a:xfrm>
              <a:off x="8568324" y="5757673"/>
              <a:ext cx="5490765" cy="33042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847EEEC-769B-C40F-4761-DB2243C3D385}"/>
                </a:ext>
              </a:extLst>
            </p:cNvPr>
            <p:cNvSpPr txBox="1"/>
            <p:nvPr/>
          </p:nvSpPr>
          <p:spPr>
            <a:xfrm>
              <a:off x="8606235" y="9038573"/>
              <a:ext cx="16045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Berlin Sans FB Demi" panose="020E0802020502020306" pitchFamily="34" charset="0"/>
                </a:rPr>
                <a:t>Healthy Pose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C2CC803-95CB-2D37-852E-44D404BD446C}"/>
                </a:ext>
              </a:extLst>
            </p:cNvPr>
            <p:cNvSpPr txBox="1"/>
            <p:nvPr/>
          </p:nvSpPr>
          <p:spPr>
            <a:xfrm>
              <a:off x="10363200" y="9038573"/>
              <a:ext cx="1905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Berlin Sans FB Demi" panose="020E0802020502020306" pitchFamily="34" charset="0"/>
                </a:rPr>
                <a:t>Back Lean Pose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5CAB3BC-56EF-8DD8-0345-90AA5CD18760}"/>
                </a:ext>
              </a:extLst>
            </p:cNvPr>
            <p:cNvSpPr txBox="1"/>
            <p:nvPr/>
          </p:nvSpPr>
          <p:spPr>
            <a:xfrm>
              <a:off x="12420600" y="9038573"/>
              <a:ext cx="1905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Berlin Sans FB Demi" panose="020E0802020502020306" pitchFamily="34" charset="0"/>
                </a:rPr>
                <a:t>Neck Lean Pose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AD4B030-4C2D-F70B-84FE-107D2B66878F}"/>
              </a:ext>
            </a:extLst>
          </p:cNvPr>
          <p:cNvSpPr txBox="1"/>
          <p:nvPr/>
        </p:nvSpPr>
        <p:spPr>
          <a:xfrm>
            <a:off x="2514600" y="9347382"/>
            <a:ext cx="149352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latin typeface="+mj-lt"/>
              </a:rPr>
              <a:t>Reference</a:t>
            </a:r>
            <a:r>
              <a:rPr lang="en-IN" i="1" dirty="0">
                <a:latin typeface="+mj-lt"/>
              </a:rPr>
              <a:t>: </a:t>
            </a:r>
            <a:r>
              <a:rPr lang="en-US" i="1" dirty="0">
                <a:latin typeface="+mj-lt"/>
                <a:hlinkClick r:id="rId6"/>
              </a:rPr>
              <a:t>Improving posture classification accuracy for depth sensor-based human activity monitoring in smart environments – ScienceDirect</a:t>
            </a:r>
            <a:endParaRPr lang="en-US" i="1" dirty="0">
              <a:latin typeface="+mj-lt"/>
            </a:endParaRPr>
          </a:p>
          <a:p>
            <a:r>
              <a:rPr lang="en-US" altLang="en-US" b="1" i="1" dirty="0">
                <a:solidFill>
                  <a:srgbClr val="1F1F1F"/>
                </a:solidFill>
                <a:latin typeface="+mj-lt"/>
              </a:rPr>
              <a:t>Authors</a:t>
            </a:r>
            <a:r>
              <a:rPr lang="en-US" altLang="en-US" i="1" dirty="0">
                <a:solidFill>
                  <a:srgbClr val="1F1F1F"/>
                </a:solidFill>
                <a:latin typeface="+mj-lt"/>
              </a:rPr>
              <a:t>: E</a:t>
            </a:r>
            <a:r>
              <a:rPr lang="en-US" altLang="en-US" i="1" dirty="0" bmk="">
                <a:solidFill>
                  <a:srgbClr val="1F1F1F"/>
                </a:solidFill>
                <a:latin typeface="+mj-lt"/>
              </a:rPr>
              <a:t>dmond S.L. Ho, Hubert P.H. Shum, Yiu-ming Cheung, Pong C. Yuen</a:t>
            </a:r>
          </a:p>
          <a:p>
            <a:r>
              <a:rPr lang="en-IN" b="1" i="1" dirty="0">
                <a:latin typeface="+mj-lt"/>
                <a:hlinkClick r:id="rId7" tooltip="Go to Computer Vision and Image Understanding on ScienceDirec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Computer Vision and Image </a:t>
            </a:r>
            <a:r>
              <a:rPr lang="en-IN" b="1" i="1" u="sng" dirty="0">
                <a:latin typeface="+mj-lt"/>
                <a:hlinkClick r:id="rId7" tooltip="Go to Computer Vision and Image Understanding on ScienceDirec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Understanding</a:t>
            </a:r>
            <a:r>
              <a:rPr lang="en-IN" b="1" i="1" u="sng" dirty="0">
                <a:latin typeface="+mj-lt"/>
              </a:rPr>
              <a:t> - 2016</a:t>
            </a:r>
          </a:p>
          <a:p>
            <a:endParaRPr lang="en-US" altLang="en-US" sz="2800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742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5781" y="1028700"/>
            <a:ext cx="16240119" cy="48034"/>
            <a:chOff x="0" y="0"/>
            <a:chExt cx="21653492" cy="64045"/>
          </a:xfrm>
        </p:grpSpPr>
        <p:sp>
          <p:nvSpPr>
            <p:cNvPr id="3" name="Freeform 3"/>
            <p:cNvSpPr/>
            <p:nvPr/>
          </p:nvSpPr>
          <p:spPr>
            <a:xfrm>
              <a:off x="6350" y="0"/>
              <a:ext cx="21640800" cy="64008"/>
            </a:xfrm>
            <a:custGeom>
              <a:avLst/>
              <a:gdLst/>
              <a:ahLst/>
              <a:cxnLst/>
              <a:rect l="l" t="t" r="r" b="b"/>
              <a:pathLst>
                <a:path w="21640800" h="64008">
                  <a:moveTo>
                    <a:pt x="0" y="51308"/>
                  </a:moveTo>
                  <a:lnTo>
                    <a:pt x="21640800" y="0"/>
                  </a:lnTo>
                  <a:lnTo>
                    <a:pt x="21640800" y="12700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2B2C3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Freeform 4"/>
          <p:cNvSpPr/>
          <p:nvPr/>
        </p:nvSpPr>
        <p:spPr>
          <a:xfrm rot="-30000">
            <a:off x="14645246" y="6758546"/>
            <a:ext cx="3417271" cy="3417271"/>
          </a:xfrm>
          <a:custGeom>
            <a:avLst/>
            <a:gdLst/>
            <a:ahLst/>
            <a:cxnLst/>
            <a:rect l="l" t="t" r="r" b="b"/>
            <a:pathLst>
              <a:path w="3417271" h="3417271">
                <a:moveTo>
                  <a:pt x="29564" y="0"/>
                </a:moveTo>
                <a:lnTo>
                  <a:pt x="3417271" y="29564"/>
                </a:lnTo>
                <a:lnTo>
                  <a:pt x="3387707" y="3417271"/>
                </a:lnTo>
                <a:lnTo>
                  <a:pt x="0" y="3387707"/>
                </a:lnTo>
                <a:lnTo>
                  <a:pt x="295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327" t="40" r="-10459" b="-1482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-787090" y="1222460"/>
            <a:ext cx="18745200" cy="7143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683344" lvl="2" indent="-561115" algn="l">
              <a:lnSpc>
                <a:spcPts val="5064"/>
              </a:lnSpc>
              <a:buFont typeface="Arial"/>
              <a:buChar char="⚬"/>
            </a:pPr>
            <a:r>
              <a:rPr lang="en-US" sz="3200" spc="15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Supports SDG 3: Good Health and Well-Being by promoting safer and healthier office, study and workout habits.</a:t>
            </a:r>
          </a:p>
          <a:p>
            <a:pPr marL="1683344" lvl="2" indent="-561115" algn="l">
              <a:lnSpc>
                <a:spcPts val="5064"/>
              </a:lnSpc>
              <a:buFont typeface="Arial"/>
              <a:buChar char="⚬"/>
            </a:pPr>
            <a:r>
              <a:rPr lang="en-US" sz="3200" spc="15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Encourages proper sitting posture and ergonomic alignment, reducing the risk of back pain and muscle strain.</a:t>
            </a:r>
          </a:p>
          <a:p>
            <a:pPr marL="1683344" lvl="2" indent="-561115" algn="l">
              <a:lnSpc>
                <a:spcPts val="5064"/>
              </a:lnSpc>
              <a:buFont typeface="Arial"/>
              <a:buChar char="⚬"/>
            </a:pPr>
            <a:r>
              <a:rPr lang="en-US" sz="3200" spc="15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Minimizes physical discomfort and fatigue during long working hours.</a:t>
            </a:r>
          </a:p>
          <a:p>
            <a:pPr marL="1683344" lvl="2" indent="-561115" algn="l">
              <a:lnSpc>
                <a:spcPts val="5064"/>
              </a:lnSpc>
              <a:buFont typeface="Arial"/>
              <a:buChar char="⚬"/>
            </a:pPr>
            <a:r>
              <a:rPr lang="en-US" sz="3200" spc="15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Helps prevent long-term issues such as poor circulation, eye strain, and repetitive stress injuries.</a:t>
            </a:r>
          </a:p>
          <a:p>
            <a:pPr marL="1683344" lvl="2" indent="-561115" algn="l">
              <a:lnSpc>
                <a:spcPts val="5064"/>
              </a:lnSpc>
              <a:buFont typeface="Arial"/>
              <a:buChar char="⚬"/>
            </a:pPr>
            <a:r>
              <a:rPr lang="en-US" sz="3200" spc="15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Enhances overall productivity and focus through a more comfortable and health-conscious workspace.</a:t>
            </a:r>
          </a:p>
          <a:p>
            <a:pPr algn="l">
              <a:lnSpc>
                <a:spcPts val="5064"/>
              </a:lnSpc>
            </a:pPr>
            <a:endParaRPr lang="en-US" sz="3898" spc="15" dirty="0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algn="l">
              <a:lnSpc>
                <a:spcPts val="5067"/>
              </a:lnSpc>
            </a:pPr>
            <a:r>
              <a:rPr lang="en-US" sz="3898" spc="19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190496"/>
            <a:ext cx="15799420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4"/>
              </a:lnSpc>
            </a:pPr>
            <a:r>
              <a:rPr lang="en-US" sz="5410" b="1" spc="909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Contribution to SDG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F9A37B-281F-C9B1-8E7A-3CE1CBE22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4516479-0F0A-38EE-5C25-95B79F7196F5}"/>
              </a:ext>
            </a:extLst>
          </p:cNvPr>
          <p:cNvGrpSpPr/>
          <p:nvPr/>
        </p:nvGrpSpPr>
        <p:grpSpPr>
          <a:xfrm>
            <a:off x="785781" y="1028700"/>
            <a:ext cx="16240119" cy="48034"/>
            <a:chOff x="0" y="0"/>
            <a:chExt cx="21653492" cy="6404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A86C9AC-003C-89C3-CAB9-DB615526EFF6}"/>
                </a:ext>
              </a:extLst>
            </p:cNvPr>
            <p:cNvSpPr/>
            <p:nvPr/>
          </p:nvSpPr>
          <p:spPr>
            <a:xfrm>
              <a:off x="6350" y="0"/>
              <a:ext cx="21640800" cy="64008"/>
            </a:xfrm>
            <a:custGeom>
              <a:avLst/>
              <a:gdLst/>
              <a:ahLst/>
              <a:cxnLst/>
              <a:rect l="l" t="t" r="r" b="b"/>
              <a:pathLst>
                <a:path w="21640800" h="64008">
                  <a:moveTo>
                    <a:pt x="0" y="51308"/>
                  </a:moveTo>
                  <a:lnTo>
                    <a:pt x="21640800" y="0"/>
                  </a:lnTo>
                  <a:lnTo>
                    <a:pt x="21640800" y="12700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2B2C3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08C46761-FCCA-F741-1279-AB3B5A70E6AB}"/>
              </a:ext>
            </a:extLst>
          </p:cNvPr>
          <p:cNvSpPr txBox="1"/>
          <p:nvPr/>
        </p:nvSpPr>
        <p:spPr>
          <a:xfrm>
            <a:off x="-787090" y="1222460"/>
            <a:ext cx="18745200" cy="51816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683344" marR="0" lvl="2" indent="-561115" algn="l" defTabSz="914400" rtl="0" eaLnBrk="1" fontAlgn="auto" latinLnBrk="0" hangingPunct="1">
              <a:lnSpc>
                <a:spcPts val="50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3200" b="0" i="0" u="none" strike="noStrike" kern="1200" cap="none" spc="15" normalizeH="0" baseline="0" noProof="0" dirty="0">
                <a:ln>
                  <a:noFill/>
                </a:ln>
                <a:solidFill>
                  <a:srgbClr val="2B2C30"/>
                </a:solidFill>
                <a:effectLst/>
                <a:uLnTx/>
                <a:uFillTx/>
                <a:latin typeface="Playfair Display"/>
                <a:ea typeface="Playfair Display"/>
                <a:cs typeface="Playfair Display"/>
                <a:sym typeface="Playfair Display"/>
              </a:rPr>
              <a:t>Develop Mobile and Laptop App using device camera for posture monitoring and real time alerts.</a:t>
            </a:r>
          </a:p>
          <a:p>
            <a:pPr marL="1683344" marR="0" lvl="2" indent="-561115" algn="l" defTabSz="914400" rtl="0" eaLnBrk="1" fontAlgn="auto" latinLnBrk="0" hangingPunct="1">
              <a:lnSpc>
                <a:spcPts val="50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lang="en-US" sz="3200" spc="15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Implement an AI model and train it using trusted and reliable data sources.</a:t>
            </a:r>
          </a:p>
          <a:p>
            <a:pPr marL="1683344" marR="0" lvl="2" indent="-561115" algn="l" defTabSz="914400" rtl="0" eaLnBrk="1" fontAlgn="auto" latinLnBrk="0" hangingPunct="1">
              <a:lnSpc>
                <a:spcPts val="50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3200" b="0" i="0" u="none" strike="noStrike" kern="1200" cap="none" spc="15" normalizeH="0" baseline="0" noProof="0" dirty="0">
                <a:ln>
                  <a:noFill/>
                </a:ln>
                <a:solidFill>
                  <a:srgbClr val="2B2C30"/>
                </a:solidFill>
                <a:effectLst/>
                <a:uLnTx/>
                <a:uFillTx/>
                <a:latin typeface="Playfair Display"/>
                <a:ea typeface="Playfair Display"/>
                <a:cs typeface="Playfair Display"/>
                <a:sym typeface="Playfair Display"/>
              </a:rPr>
              <a:t>Include work,</a:t>
            </a:r>
            <a:r>
              <a:rPr lang="en-US" sz="3200" spc="15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study and workout postures.</a:t>
            </a:r>
          </a:p>
          <a:p>
            <a:pPr marL="1683344" lvl="2" indent="-561115">
              <a:lnSpc>
                <a:spcPts val="5064"/>
              </a:lnSpc>
              <a:buFont typeface="Arial"/>
              <a:buChar char="⚬"/>
              <a:defRPr/>
            </a:pPr>
            <a:r>
              <a:rPr kumimoji="0" lang="en-US" sz="3200" b="0" i="0" u="none" strike="noStrike" kern="1200" cap="none" spc="15" normalizeH="0" baseline="0" noProof="0" dirty="0">
                <a:ln>
                  <a:noFill/>
                </a:ln>
                <a:solidFill>
                  <a:srgbClr val="2B2C30"/>
                </a:solidFill>
                <a:effectLst/>
                <a:uLnTx/>
                <a:uFillTx/>
                <a:latin typeface="Playfair Display"/>
                <a:ea typeface="Playfair Display"/>
                <a:cs typeface="Playfair Display"/>
                <a:sym typeface="Playfair Display"/>
              </a:rPr>
              <a:t>Enhance it </a:t>
            </a:r>
            <a:r>
              <a:rPr lang="en-US" sz="3200" spc="15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for detecting </a:t>
            </a:r>
            <a:r>
              <a:rPr lang="en-US" sz="3200" spc="20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signs of distraction or lack of focus.</a:t>
            </a:r>
          </a:p>
          <a:p>
            <a:pPr marL="1683344" lvl="2" indent="-561115">
              <a:lnSpc>
                <a:spcPts val="5064"/>
              </a:lnSpc>
              <a:buFont typeface="Arial"/>
              <a:buChar char="⚬"/>
              <a:defRPr/>
            </a:pPr>
            <a:r>
              <a:rPr kumimoji="0" lang="en-US" sz="3200" b="0" i="0" u="none" strike="noStrike" kern="1200" cap="none" spc="20" normalizeH="0" baseline="0" noProof="0" dirty="0">
                <a:ln>
                  <a:noFill/>
                </a:ln>
                <a:solidFill>
                  <a:srgbClr val="2B2C30"/>
                </a:solidFill>
                <a:effectLst/>
                <a:uLnTx/>
                <a:uFillTx/>
                <a:latin typeface="Playfair Display"/>
                <a:ea typeface="Playfair Display"/>
                <a:cs typeface="Playfair Display"/>
                <a:sym typeface="Playfair Display"/>
              </a:rPr>
              <a:t>Include statistics to help analyze day-to-day</a:t>
            </a:r>
            <a:r>
              <a:rPr lang="en-US" sz="3200" spc="20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progress in posture correction.</a:t>
            </a:r>
            <a:endParaRPr kumimoji="0" lang="en-US" sz="3200" b="0" i="0" u="none" strike="noStrike" kern="1200" cap="none" spc="15" normalizeH="0" baseline="0" noProof="0" dirty="0">
              <a:ln>
                <a:noFill/>
              </a:ln>
              <a:solidFill>
                <a:srgbClr val="2B2C30"/>
              </a:solidFill>
              <a:effectLst/>
              <a:uLnTx/>
              <a:uFillTx/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l" defTabSz="914400" rtl="0" eaLnBrk="1" fontAlgn="auto" latinLnBrk="0" hangingPunct="1">
              <a:lnSpc>
                <a:spcPts val="50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898" b="0" i="0" u="none" strike="noStrike" kern="1200" cap="none" spc="15" normalizeH="0" baseline="0" noProof="0" dirty="0">
              <a:ln>
                <a:noFill/>
              </a:ln>
              <a:solidFill>
                <a:srgbClr val="2B2C30"/>
              </a:solidFill>
              <a:effectLst/>
              <a:uLnTx/>
              <a:uFillTx/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l" defTabSz="914400" rtl="0" eaLnBrk="1" fontAlgn="auto" latinLnBrk="0" hangingPunct="1">
              <a:lnSpc>
                <a:spcPts val="50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98" b="0" i="0" u="none" strike="noStrike" kern="1200" cap="none" spc="19" normalizeH="0" baseline="0" noProof="0" dirty="0">
                <a:ln>
                  <a:noFill/>
                </a:ln>
                <a:solidFill>
                  <a:srgbClr val="2B2C30"/>
                </a:solidFill>
                <a:effectLst/>
                <a:uLnTx/>
                <a:uFillTx/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45D3C80-FEAB-2C35-3CC9-34AB5E4021AA}"/>
              </a:ext>
            </a:extLst>
          </p:cNvPr>
          <p:cNvSpPr txBox="1"/>
          <p:nvPr/>
        </p:nvSpPr>
        <p:spPr>
          <a:xfrm>
            <a:off x="685800" y="190496"/>
            <a:ext cx="15799420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61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10" b="1" i="0" u="none" strike="noStrike" kern="1200" cap="none" spc="909" normalizeH="0" baseline="0" noProof="0" dirty="0">
                <a:ln>
                  <a:noFill/>
                </a:ln>
                <a:solidFill>
                  <a:srgbClr val="2B2C30"/>
                </a:solidFill>
                <a:effectLst/>
                <a:uLnTx/>
                <a:uFillTx/>
                <a:latin typeface="Public Sans Bold"/>
                <a:ea typeface="Public Sans Bold"/>
                <a:cs typeface="Public Sans Bold"/>
                <a:sym typeface="Public Sans Bold"/>
              </a:rPr>
              <a:t>Future Plan’s</a:t>
            </a:r>
          </a:p>
        </p:txBody>
      </p:sp>
      <p:pic>
        <p:nvPicPr>
          <p:cNvPr id="1028" name="Picture 4" descr="phone tablet technology generative ai ...">
            <a:extLst>
              <a:ext uri="{FF2B5EF4-FFF2-40B4-BE49-F238E27FC236}">
                <a16:creationId xmlns:a16="http://schemas.microsoft.com/office/drawing/2014/main" id="{F06A0046-7F02-8E1E-A499-60A40828B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1400" y="6286500"/>
            <a:ext cx="5777215" cy="3235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9505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7352" y="1504093"/>
            <a:ext cx="16240119" cy="48034"/>
            <a:chOff x="0" y="0"/>
            <a:chExt cx="21653492" cy="64045"/>
          </a:xfrm>
        </p:grpSpPr>
        <p:sp>
          <p:nvSpPr>
            <p:cNvPr id="3" name="Freeform 3"/>
            <p:cNvSpPr/>
            <p:nvPr/>
          </p:nvSpPr>
          <p:spPr>
            <a:xfrm>
              <a:off x="6350" y="0"/>
              <a:ext cx="21640800" cy="64008"/>
            </a:xfrm>
            <a:custGeom>
              <a:avLst/>
              <a:gdLst/>
              <a:ahLst/>
              <a:cxnLst/>
              <a:rect l="l" t="t" r="r" b="b"/>
              <a:pathLst>
                <a:path w="21640800" h="64008">
                  <a:moveTo>
                    <a:pt x="0" y="51308"/>
                  </a:moveTo>
                  <a:lnTo>
                    <a:pt x="21640800" y="0"/>
                  </a:lnTo>
                  <a:lnTo>
                    <a:pt x="21640800" y="12700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2B2C3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Freeform 4"/>
          <p:cNvSpPr/>
          <p:nvPr/>
        </p:nvSpPr>
        <p:spPr>
          <a:xfrm>
            <a:off x="10248827" y="5645199"/>
            <a:ext cx="2671011" cy="4114800"/>
          </a:xfrm>
          <a:custGeom>
            <a:avLst/>
            <a:gdLst/>
            <a:ahLst/>
            <a:cxnLst/>
            <a:rect l="l" t="t" r="r" b="b"/>
            <a:pathLst>
              <a:path w="2671011" h="4114800">
                <a:moveTo>
                  <a:pt x="0" y="0"/>
                </a:moveTo>
                <a:lnTo>
                  <a:pt x="2671011" y="0"/>
                </a:lnTo>
                <a:lnTo>
                  <a:pt x="26710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2" b="-1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5069336" y="5645199"/>
            <a:ext cx="2476361" cy="4114800"/>
          </a:xfrm>
          <a:custGeom>
            <a:avLst/>
            <a:gdLst/>
            <a:ahLst/>
            <a:cxnLst/>
            <a:rect l="l" t="t" r="r" b="b"/>
            <a:pathLst>
              <a:path w="2476361" h="4114800">
                <a:moveTo>
                  <a:pt x="0" y="0"/>
                </a:moveTo>
                <a:lnTo>
                  <a:pt x="2476361" y="0"/>
                </a:lnTo>
                <a:lnTo>
                  <a:pt x="247636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228" b="-22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219200" y="527001"/>
            <a:ext cx="16018271" cy="617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94"/>
              </a:lnSpc>
            </a:pPr>
            <a:r>
              <a:rPr lang="en-US" sz="4000" b="1" spc="842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QUESTION AND ANSWER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9830" y="2007297"/>
            <a:ext cx="17504682" cy="2534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940"/>
              </a:lnSpc>
            </a:pPr>
            <a:r>
              <a:rPr lang="en-US" sz="9059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Please feel free to ask questions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30514" y="3249867"/>
            <a:ext cx="16957486" cy="277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32"/>
              </a:lnSpc>
            </a:pPr>
            <a:r>
              <a:rPr lang="en-US" sz="22233" spc="11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you!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16407" y="7964805"/>
            <a:ext cx="7862435" cy="1741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Mridul Mittal,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Student of Class 8 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Phoenix Greens School Of Learning</a:t>
            </a:r>
          </a:p>
          <a:p>
            <a:pPr algn="l">
              <a:lnSpc>
                <a:spcPts val="3450"/>
              </a:lnSpc>
            </a:pPr>
            <a:endParaRPr lang="en-US" sz="230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561</Words>
  <Application>Microsoft Office PowerPoint</Application>
  <PresentationFormat>Custom</PresentationFormat>
  <Paragraphs>70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Courier New</vt:lpstr>
      <vt:lpstr>Berlin Sans FB Demi</vt:lpstr>
      <vt:lpstr>Playfair Display</vt:lpstr>
      <vt:lpstr>Calibri</vt:lpstr>
      <vt:lpstr>Public Sans</vt:lpstr>
      <vt:lpstr>Arial</vt:lpstr>
      <vt:lpstr>Public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Deck.pptx</dc:title>
  <dc:creator>Mukund Mittal</dc:creator>
  <cp:lastModifiedBy>Mukund Mittal</cp:lastModifiedBy>
  <cp:revision>16</cp:revision>
  <dcterms:created xsi:type="dcterms:W3CDTF">2006-08-16T00:00:00Z</dcterms:created>
  <dcterms:modified xsi:type="dcterms:W3CDTF">2025-11-28T15:54:11Z</dcterms:modified>
  <dc:identifier>DAGzqe8o_fc</dc:identifier>
</cp:coreProperties>
</file>